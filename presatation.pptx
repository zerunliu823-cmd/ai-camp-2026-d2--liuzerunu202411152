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4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A5B0"/>
          </a:solidFill>
          <a:ln>
            <a:solidFill>
              <a:srgbClr val="1AA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1AA5B0"/>
                </a:solidFill>
                <a:latin typeface="Aptos"/>
              </a:rPr>
              <a:t>DAY 02  /  COMPUTER VISION</a:t>
            </a:r>
            <a:endParaRPr sz="1200" b="1">
              <a:solidFill>
                <a:srgbClr val="1AA5B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8046720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混凝土裂缝检测</a:t>
            </a:r>
            <a:endParaRPr sz="4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6858000" cy="9144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300" b="0">
                <a:solidFill>
                  <a:srgbClr val="DAE2EE"/>
                </a:solidFill>
                <a:latin typeface="Aptos"/>
              </a:rPr>
              <a:t>用深度学习把大量照片变成
可优先复核的清单</a:t>
            </a:r>
            <a:endParaRPr sz="2300" b="0">
              <a:solidFill>
                <a:srgbClr val="DAE2EE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3886200"/>
            <a:ext cx="2743200" cy="658368"/>
          </a:xfrm>
          <a:prstGeom prst="roundRect">
            <a:avLst>
              <a:gd name="adj" fmla="val 8000"/>
            </a:avLst>
          </a:prstGeom>
          <a:solidFill>
            <a:srgbClr val="1869BE"/>
          </a:solidFill>
          <a:ln>
            <a:solidFill>
              <a:srgbClr val="1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954653"/>
            <a:ext cx="2286000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最终 CNN 准确率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4192524"/>
            <a:ext cx="228600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98.33%</a:t>
            </a:r>
            <a:endParaRPr sz="2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89920" y="5989320"/>
            <a:ext cx="7315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0">
                <a:solidFill>
                  <a:srgbClr val="B0BED1"/>
                </a:solidFill>
                <a:latin typeface="Aptos"/>
              </a:rPr>
              <a:t>01 / 08</a:t>
            </a:r>
            <a:endParaRPr sz="1000" b="0">
              <a:solidFill>
                <a:srgbClr val="B0BED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9BE"/>
          </a:solidFill>
          <a:ln>
            <a:solidFill>
              <a:srgbClr val="1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3657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1869BE"/>
                </a:solidFill>
                <a:latin typeface="Aptos"/>
              </a:rPr>
              <a:t>01  项目背景</a:t>
            </a:r>
            <a:endParaRPr sz="1000" b="1">
              <a:solidFill>
                <a:srgbClr val="1869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78992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1C2431"/>
                </a:solidFill>
                <a:latin typeface="Aptos"/>
              </a:rPr>
              <a:t>先把问题说清楚：从照片中找裂缝</a:t>
            </a:r>
            <a:endParaRPr sz="28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8229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0">
                <a:solidFill>
                  <a:srgbClr val="5B6778"/>
                </a:solidFill>
                <a:latin typeface="Aptos"/>
              </a:rPr>
              <a:t>02 / 08</a:t>
            </a:r>
            <a:endParaRPr sz="10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DAE1EA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5156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100" b="1">
                <a:solidFill>
                  <a:srgbClr val="1C2431"/>
                </a:solidFill>
                <a:latin typeface="Aptos"/>
              </a:rPr>
              <a:t>维护团队面对的不是一张图片，而是成千上万张图片。</a:t>
            </a:r>
            <a:endParaRPr sz="21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333756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73152" cy="2240280"/>
          </a:xfrm>
          <a:prstGeom prst="rect">
            <a:avLst/>
          </a:prstGeom>
          <a:solidFill>
            <a:srgbClr val="1869BE"/>
          </a:solidFill>
          <a:ln>
            <a:solidFill>
              <a:srgbClr val="1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971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5B6778"/>
                </a:solidFill>
                <a:latin typeface="Aptos"/>
              </a:rPr>
              <a:t>输入</a:t>
            </a:r>
            <a:endParaRPr sz="1100" b="1">
              <a:solidFill>
                <a:srgbClr val="5B6778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29718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869BE"/>
                </a:solidFill>
                <a:latin typeface="Aptos"/>
              </a:rPr>
              <a:t>40,000 张</a:t>
            </a:r>
            <a:endParaRPr sz="2700" b="1">
              <a:solidFill>
                <a:srgbClr val="1869BE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410711"/>
            <a:ext cx="2971800" cy="10698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5B6778"/>
                </a:solidFill>
                <a:latin typeface="Aptos"/>
              </a:rPr>
              <a:t>Kaggle 混凝土表面照片
Positive / Negative 各 20,000 张</a:t>
            </a:r>
            <a:endParaRPr sz="11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34840" y="2331720"/>
            <a:ext cx="333756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331720"/>
            <a:ext cx="73152" cy="2240280"/>
          </a:xfrm>
          <a:prstGeom prst="rect">
            <a:avLst/>
          </a:prstGeom>
          <a:solidFill>
            <a:srgbClr val="1AA5B0"/>
          </a:solidFill>
          <a:ln>
            <a:solidFill>
              <a:srgbClr val="1AA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514600"/>
            <a:ext cx="2971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5B6778"/>
                </a:solidFill>
                <a:latin typeface="Aptos"/>
              </a:rPr>
              <a:t>任务</a:t>
            </a:r>
            <a:endParaRPr sz="1100" b="1">
              <a:solidFill>
                <a:srgbClr val="5B6778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3440" y="2834639"/>
            <a:ext cx="29718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AA5B0"/>
                </a:solidFill>
                <a:latin typeface="Aptos"/>
              </a:rPr>
              <a:t>二分类</a:t>
            </a:r>
            <a:endParaRPr sz="2700" b="1">
              <a:solidFill>
                <a:srgbClr val="1AA5B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63440" y="3410711"/>
            <a:ext cx="2971800" cy="10698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5B6778"/>
                </a:solidFill>
                <a:latin typeface="Aptos"/>
              </a:rPr>
              <a:t>每张照片只回答一个问题：
有没有裂缝？</a:t>
            </a:r>
            <a:endParaRPr sz="11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83879" y="2331720"/>
            <a:ext cx="333756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2331720"/>
            <a:ext cx="73152" cy="2240280"/>
          </a:xfrm>
          <a:prstGeom prst="rect">
            <a:avLst/>
          </a:prstGeom>
          <a:solidFill>
            <a:srgbClr val="EB8530"/>
          </a:solidFill>
          <a:ln>
            <a:solidFill>
              <a:srgbClr val="EB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514600"/>
            <a:ext cx="29718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5B6778"/>
                </a:solidFill>
                <a:latin typeface="Aptos"/>
              </a:rPr>
              <a:t>输出</a:t>
            </a:r>
            <a:endParaRPr sz="1100" b="1">
              <a:solidFill>
                <a:srgbClr val="5B6778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12480" y="2834639"/>
            <a:ext cx="297180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EB8530"/>
                </a:solidFill>
                <a:latin typeface="Aptos"/>
              </a:rPr>
              <a:t>优先级</a:t>
            </a:r>
            <a:endParaRPr sz="2700" b="1">
              <a:solidFill>
                <a:srgbClr val="EB8530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0" y="3410711"/>
            <a:ext cx="2971800" cy="10698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5B6778"/>
                </a:solidFill>
                <a:latin typeface="Aptos"/>
              </a:rPr>
              <a:t>把可能有裂缝的照片先交给人工复核
不替代工程师判断</a:t>
            </a:r>
            <a:endParaRPr sz="11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5166360"/>
            <a:ext cx="10789920" cy="3840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800" b="1">
                <a:solidFill>
                  <a:srgbClr val="1869BE"/>
                </a:solidFill>
                <a:latin typeface="Aptos"/>
              </a:rPr>
              <a:t>一句话：模型负责“先筛一遍”，人负责“做最终决定”。</a:t>
            </a:r>
            <a:endParaRPr sz="1800" b="1">
              <a:solidFill>
                <a:srgbClr val="1869B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9BE"/>
          </a:solidFill>
          <a:ln>
            <a:solidFill>
              <a:srgbClr val="1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3657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1869BE"/>
                </a:solidFill>
                <a:latin typeface="Aptos"/>
              </a:rPr>
              <a:t>02  数据与流程</a:t>
            </a:r>
            <a:endParaRPr sz="1000" b="1">
              <a:solidFill>
                <a:srgbClr val="1869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78992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1C2431"/>
                </a:solidFill>
                <a:latin typeface="Aptos"/>
              </a:rPr>
              <a:t>模型是怎样学会看照片的？</a:t>
            </a:r>
            <a:endParaRPr sz="28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8229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0">
                <a:solidFill>
                  <a:srgbClr val="5B6778"/>
                </a:solidFill>
                <a:latin typeface="Aptos"/>
              </a:rPr>
              <a:t>03 / 08</a:t>
            </a:r>
            <a:endParaRPr sz="10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DAE1EA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1488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2359152"/>
            <a:ext cx="438912" cy="438912"/>
          </a:xfrm>
          <a:prstGeom prst="ellipse">
            <a:avLst/>
          </a:prstGeom>
          <a:solidFill>
            <a:srgbClr val="1869BE"/>
          </a:solidFill>
          <a:ln>
            <a:solidFill>
              <a:srgbClr val="1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41448"/>
            <a:ext cx="438912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1832" y="2971800"/>
            <a:ext cx="17830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1C2431"/>
                </a:solidFill>
                <a:latin typeface="Aptos"/>
              </a:rPr>
              <a:t>准备图片</a:t>
            </a:r>
            <a:endParaRPr sz="18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" y="3429000"/>
            <a:ext cx="178308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B6778"/>
                </a:solidFill>
                <a:latin typeface="Aptos"/>
              </a:rPr>
              <a:t>统一尺寸、读取标签</a:t>
            </a:r>
            <a:endParaRPr sz="12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4952" y="2852928"/>
            <a:ext cx="4572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400" b="1">
                <a:solidFill>
                  <a:srgbClr val="1AA5B0"/>
                </a:solidFill>
                <a:latin typeface="Aptos"/>
              </a:rPr>
              <a:t>→</a:t>
            </a:r>
            <a:endParaRPr sz="2400" b="1">
              <a:solidFill>
                <a:srgbClr val="1AA5B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566160" y="2148840"/>
            <a:ext cx="21488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30752" y="2359152"/>
            <a:ext cx="438912" cy="438912"/>
          </a:xfrm>
          <a:prstGeom prst="ellipse">
            <a:avLst/>
          </a:prstGeom>
          <a:solidFill>
            <a:srgbClr val="1869BE"/>
          </a:solidFill>
          <a:ln>
            <a:solidFill>
              <a:srgbClr val="1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2441448"/>
            <a:ext cx="438912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30752" y="2971800"/>
            <a:ext cx="17830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1C2431"/>
                </a:solidFill>
                <a:latin typeface="Aptos"/>
              </a:rPr>
              <a:t>划分数据</a:t>
            </a:r>
            <a:endParaRPr sz="18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30752" y="3429000"/>
            <a:ext cx="178308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B6778"/>
                </a:solidFill>
                <a:latin typeface="Aptos"/>
              </a:rPr>
              <a:t>900 张训练 / 300 张测试</a:t>
            </a:r>
            <a:endParaRPr sz="12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33872" y="2852928"/>
            <a:ext cx="4572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400" b="1">
                <a:solidFill>
                  <a:srgbClr val="1AA5B0"/>
                </a:solidFill>
                <a:latin typeface="Aptos"/>
              </a:rPr>
              <a:t>→</a:t>
            </a:r>
            <a:endParaRPr sz="2400" b="1">
              <a:solidFill>
                <a:srgbClr val="1AA5B0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55079" y="2148840"/>
            <a:ext cx="21488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19671" y="2359152"/>
            <a:ext cx="438912" cy="438912"/>
          </a:xfrm>
          <a:prstGeom prst="ellipse">
            <a:avLst/>
          </a:prstGeom>
          <a:solidFill>
            <a:srgbClr val="1869BE"/>
          </a:solidFill>
          <a:ln>
            <a:solidFill>
              <a:srgbClr val="1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1" y="2441448"/>
            <a:ext cx="438912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19671" y="2971800"/>
            <a:ext cx="17830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1C2431"/>
                </a:solidFill>
                <a:latin typeface="Aptos"/>
              </a:rPr>
              <a:t>训练模型</a:t>
            </a:r>
            <a:endParaRPr sz="18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19671" y="3429000"/>
            <a:ext cx="178308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B6778"/>
                </a:solidFill>
                <a:latin typeface="Aptos"/>
              </a:rPr>
              <a:t>CNN 学习裂缝纹理</a:t>
            </a:r>
            <a:endParaRPr sz="12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22792" y="2852928"/>
            <a:ext cx="4572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400" b="1">
                <a:solidFill>
                  <a:srgbClr val="1AA5B0"/>
                </a:solidFill>
                <a:latin typeface="Aptos"/>
              </a:rPr>
              <a:t>→</a:t>
            </a:r>
            <a:endParaRPr sz="2400" b="1">
              <a:solidFill>
                <a:srgbClr val="1AA5B0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143999" y="2148840"/>
            <a:ext cx="21488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08591" y="2359152"/>
            <a:ext cx="438912" cy="438912"/>
          </a:xfrm>
          <a:prstGeom prst="ellipse">
            <a:avLst/>
          </a:prstGeom>
          <a:solidFill>
            <a:srgbClr val="1869BE"/>
          </a:solidFill>
          <a:ln>
            <a:solidFill>
              <a:srgbClr val="1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1" y="2441448"/>
            <a:ext cx="438912" cy="182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08591" y="2971800"/>
            <a:ext cx="17830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>
                <a:solidFill>
                  <a:srgbClr val="1C2431"/>
                </a:solidFill>
                <a:latin typeface="Aptos"/>
              </a:rPr>
              <a:t>检查结果</a:t>
            </a:r>
            <a:endParaRPr sz="18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308591" y="3429000"/>
            <a:ext cx="178308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B6778"/>
                </a:solidFill>
                <a:latin typeface="Aptos"/>
              </a:rPr>
              <a:t>准确率 + 漏检样本</a:t>
            </a:r>
            <a:endParaRPr sz="12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7240" y="4892040"/>
            <a:ext cx="10515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700" b="0">
                <a:solidFill>
                  <a:srgbClr val="5B6778"/>
                </a:solidFill>
                <a:latin typeface="Aptos"/>
              </a:rPr>
              <a:t>固定随机种子 = 每个模型面对同一份“考试卷”，比较才公平。</a:t>
            </a:r>
            <a:endParaRPr sz="17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834640" y="5532120"/>
            <a:ext cx="6492240" cy="457200"/>
          </a:xfrm>
          <a:prstGeom prst="roundRect">
            <a:avLst>
              <a:gd name="adj" fmla="val 8000"/>
            </a:avLst>
          </a:prstGeom>
          <a:solidFill>
            <a:srgbClr val="1E2735"/>
          </a:solidFill>
          <a:ln>
            <a:solidFill>
              <a:srgbClr val="1E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80944" y="5650992"/>
            <a:ext cx="6199631" cy="20116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E0E9F3"/>
                </a:solidFill>
                <a:latin typeface="Consolas" panose="020B0609020204030204"/>
              </a:rPr>
              <a:t>train_test_split(..., test_size=0.25, random_state=2026)</a:t>
            </a:r>
            <a:endParaRPr sz="1000" b="0">
              <a:solidFill>
                <a:srgbClr val="E0E9F3"/>
              </a:solidFill>
              <a:latin typeface="Consolas" panose="020B0609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34640" y="6035040"/>
            <a:ext cx="649224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0">
                <a:solidFill>
                  <a:srgbClr val="5B6778"/>
                </a:solidFill>
                <a:latin typeface="Aptos"/>
              </a:rPr>
              <a:t>固定划分：保证模型比较公平</a:t>
            </a:r>
            <a:endParaRPr sz="1000" b="0">
              <a:solidFill>
                <a:srgbClr val="5B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9BE"/>
          </a:solidFill>
          <a:ln>
            <a:solidFill>
              <a:srgbClr val="1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3657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1869BE"/>
                </a:solidFill>
                <a:latin typeface="Aptos"/>
              </a:rPr>
              <a:t>03  方法原理</a:t>
            </a:r>
            <a:endParaRPr sz="1000" b="1">
              <a:solidFill>
                <a:srgbClr val="1869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78992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1C2431"/>
                </a:solidFill>
                <a:latin typeface="Aptos"/>
              </a:rPr>
              <a:t>CNN 的核心：用小窗口寻找局部线索</a:t>
            </a:r>
            <a:endParaRPr sz="28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8229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0">
                <a:solidFill>
                  <a:srgbClr val="5B6778"/>
                </a:solidFill>
                <a:latin typeface="Aptos"/>
              </a:rPr>
              <a:t>04 / 08</a:t>
            </a:r>
            <a:endParaRPr sz="10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DAE1EA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107899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0">
                <a:solidFill>
                  <a:srgbClr val="1C2431"/>
                </a:solidFill>
                <a:latin typeface="Aptos"/>
              </a:rPr>
              <a:t>卷积核像一个会移动的“小放大镜”。它不一次看整张图，而是逐块寻找边缘、纹理和细线。</a:t>
            </a:r>
            <a:endParaRPr sz="1800" b="0">
              <a:solidFill>
                <a:srgbClr val="1C2431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14400" y="251460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22860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900" b="1">
                <a:solidFill>
                  <a:srgbClr val="1869BE"/>
                </a:solidFill>
                <a:latin typeface="Aptos"/>
              </a:rPr>
              <a:t>局部像素</a:t>
            </a:r>
            <a:endParaRPr sz="1900" b="1">
              <a:solidFill>
                <a:srgbClr val="1869BE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3182112"/>
            <a:ext cx="22860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0">
                <a:solidFill>
                  <a:srgbClr val="5B6778"/>
                </a:solidFill>
                <a:latin typeface="Aptos"/>
              </a:rPr>
              <a:t>3×3 小区域</a:t>
            </a:r>
            <a:endParaRPr sz="12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03320" y="2880360"/>
            <a:ext cx="7315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500" b="1">
                <a:solidFill>
                  <a:srgbClr val="1AA5B0"/>
                </a:solidFill>
                <a:latin typeface="Aptos"/>
              </a:rPr>
              <a:t>→</a:t>
            </a:r>
            <a:endParaRPr sz="2500" b="1">
              <a:solidFill>
                <a:srgbClr val="1AA5B0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617720" y="251460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743200"/>
            <a:ext cx="22860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900" b="1">
                <a:solidFill>
                  <a:srgbClr val="1AA5B0"/>
                </a:solidFill>
                <a:latin typeface="Aptos"/>
              </a:rPr>
              <a:t>卷积核</a:t>
            </a:r>
            <a:endParaRPr sz="1900" b="1">
              <a:solidFill>
                <a:srgbClr val="1AA5B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3182112"/>
            <a:ext cx="22860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0">
                <a:solidFill>
                  <a:srgbClr val="5B6778"/>
                </a:solidFill>
                <a:latin typeface="Aptos"/>
              </a:rPr>
              <a:t>自动学习的过滤器</a:t>
            </a:r>
            <a:endParaRPr sz="12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06640" y="2880360"/>
            <a:ext cx="7315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500" b="1">
                <a:solidFill>
                  <a:srgbClr val="1AA5B0"/>
                </a:solidFill>
                <a:latin typeface="Aptos"/>
              </a:rPr>
              <a:t>→</a:t>
            </a:r>
            <a:endParaRPr sz="2500" b="1">
              <a:solidFill>
                <a:srgbClr val="1AA5B0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321040" y="251460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743200"/>
            <a:ext cx="22860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900" b="1">
                <a:solidFill>
                  <a:srgbClr val="EB8530"/>
                </a:solidFill>
                <a:latin typeface="Aptos"/>
              </a:rPr>
              <a:t>特征图</a:t>
            </a:r>
            <a:endParaRPr sz="1900" b="1">
              <a:solidFill>
                <a:srgbClr val="EB8530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03919" y="3182112"/>
            <a:ext cx="22860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0">
                <a:solidFill>
                  <a:srgbClr val="5B6778"/>
                </a:solidFill>
                <a:latin typeface="Aptos"/>
              </a:rPr>
              <a:t>哪里像裂缝？</a:t>
            </a:r>
            <a:endParaRPr sz="12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10332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000" b="1">
                <a:solidFill>
                  <a:srgbClr val="1869BE"/>
                </a:solidFill>
                <a:latin typeface="Aptos"/>
              </a:rPr>
              <a:t>浅层看到边缘  →  中层组合成纹理  →  深层判断是否像裂缝</a:t>
            </a:r>
            <a:endParaRPr sz="2000" b="1">
              <a:solidFill>
                <a:srgbClr val="1869BE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788920" y="5257800"/>
            <a:ext cx="6583680" cy="502920"/>
          </a:xfrm>
          <a:prstGeom prst="roundRect">
            <a:avLst>
              <a:gd name="adj" fmla="val 8000"/>
            </a:avLst>
          </a:prstGeom>
          <a:solidFill>
            <a:srgbClr val="1E2735"/>
          </a:solidFill>
          <a:ln>
            <a:solidFill>
              <a:srgbClr val="1E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35224" y="5376672"/>
            <a:ext cx="6291072" cy="2468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E0E9F3"/>
                </a:solidFill>
                <a:latin typeface="Consolas" panose="020B0609020204030204"/>
              </a:rPr>
              <a:t>nn.Conv2d(3, 32, kernel_size=5, padding=2)</a:t>
            </a:r>
            <a:endParaRPr sz="1000" b="0">
              <a:solidFill>
                <a:srgbClr val="E0E9F3"/>
              </a:solidFill>
              <a:latin typeface="Consolas" panose="020B0609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88920" y="5806440"/>
            <a:ext cx="65836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0">
                <a:solidFill>
                  <a:srgbClr val="5B6778"/>
                </a:solidFill>
                <a:latin typeface="Aptos"/>
              </a:rPr>
              <a:t>卷积层：3 个输入通道 → 32 张特征图</a:t>
            </a:r>
            <a:endParaRPr sz="1000" b="0">
              <a:solidFill>
                <a:srgbClr val="5B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9BE"/>
          </a:solidFill>
          <a:ln>
            <a:solidFill>
              <a:srgbClr val="1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3657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1869BE"/>
                </a:solidFill>
                <a:latin typeface="Aptos"/>
              </a:rPr>
              <a:t>04  模型对比</a:t>
            </a:r>
            <a:endParaRPr sz="1000" b="1">
              <a:solidFill>
                <a:srgbClr val="1869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78992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1C2431"/>
                </a:solidFill>
                <a:latin typeface="Aptos"/>
              </a:rPr>
              <a:t>为什么选择 CNN：先做一次公平对比</a:t>
            </a:r>
            <a:endParaRPr sz="28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8229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0">
                <a:solidFill>
                  <a:srgbClr val="5B6778"/>
                </a:solidFill>
                <a:latin typeface="Aptos"/>
              </a:rPr>
              <a:t>05 / 08</a:t>
            </a:r>
            <a:endParaRPr sz="10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DAE1EA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10515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0">
                <a:solidFill>
                  <a:srgbClr val="1C2431"/>
                </a:solidFill>
                <a:latin typeface="Aptos"/>
              </a:rPr>
              <a:t>同一数据、同一测试集，模型结构不同，结果差异很明显。</a:t>
            </a:r>
            <a:endParaRPr sz="1800" b="0">
              <a:solidFill>
                <a:srgbClr val="1C2431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1031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1C2431"/>
                </a:solidFill>
                <a:latin typeface="Aptos"/>
              </a:rPr>
              <a:t>多数类基线</a:t>
            </a:r>
            <a:endParaRPr sz="12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017520" y="2267712"/>
            <a:ext cx="4754880" cy="201168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17520" y="2267712"/>
            <a:ext cx="2377440" cy="201168"/>
          </a:xfrm>
          <a:prstGeom prst="roundRect">
            <a:avLst>
              <a:gd name="adj" fmla="val 8000"/>
            </a:avLst>
          </a:prstGeom>
          <a:solidFill>
            <a:srgbClr val="5B6778"/>
          </a:solidFill>
          <a:ln>
            <a:solidFill>
              <a:srgbClr val="5B6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221992"/>
            <a:ext cx="9144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200" b="1">
                <a:solidFill>
                  <a:srgbClr val="1C2431"/>
                </a:solidFill>
                <a:latin typeface="Aptos"/>
              </a:rPr>
              <a:t>50.00%</a:t>
            </a:r>
            <a:endParaRPr sz="12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2788920"/>
            <a:ext cx="21031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1C2431"/>
                </a:solidFill>
                <a:latin typeface="Aptos"/>
              </a:rPr>
              <a:t>MLP 全连接</a:t>
            </a:r>
            <a:endParaRPr sz="12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017520" y="2816351"/>
            <a:ext cx="4754880" cy="201168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17520" y="2816351"/>
            <a:ext cx="3058814" cy="201168"/>
          </a:xfrm>
          <a:prstGeom prst="roundRect">
            <a:avLst>
              <a:gd name="adj" fmla="val 8000"/>
            </a:avLst>
          </a:prstGeom>
          <a:solidFill>
            <a:srgbClr val="EB8530"/>
          </a:solidFill>
          <a:ln>
            <a:solidFill>
              <a:srgbClr val="EB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2770632"/>
            <a:ext cx="9144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200" b="1">
                <a:solidFill>
                  <a:srgbClr val="1C2431"/>
                </a:solidFill>
                <a:latin typeface="Aptos"/>
              </a:rPr>
              <a:t>64.33%</a:t>
            </a:r>
            <a:endParaRPr sz="12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3337560"/>
            <a:ext cx="21031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1C2431"/>
                </a:solidFill>
                <a:latin typeface="Aptos"/>
              </a:rPr>
              <a:t>基础 CNN</a:t>
            </a:r>
            <a:endParaRPr sz="12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17520" y="3364991"/>
            <a:ext cx="4754880" cy="201168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17520" y="3364991"/>
            <a:ext cx="3867143" cy="201168"/>
          </a:xfrm>
          <a:prstGeom prst="roundRect">
            <a:avLst>
              <a:gd name="adj" fmla="val 8000"/>
            </a:avLst>
          </a:prstGeom>
          <a:solidFill>
            <a:srgbClr val="1869BE"/>
          </a:solidFill>
          <a:ln>
            <a:solidFill>
              <a:srgbClr val="1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319272"/>
            <a:ext cx="9144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200" b="1">
                <a:solidFill>
                  <a:srgbClr val="1C2431"/>
                </a:solidFill>
                <a:latin typeface="Aptos"/>
              </a:rPr>
              <a:t>81.33%</a:t>
            </a:r>
            <a:endParaRPr sz="12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3886200"/>
            <a:ext cx="21031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1">
                <a:solidFill>
                  <a:srgbClr val="1C2431"/>
                </a:solidFill>
                <a:latin typeface="Aptos"/>
              </a:rPr>
              <a:t>优化 CNN</a:t>
            </a:r>
            <a:endParaRPr sz="12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017520" y="3913632"/>
            <a:ext cx="4754880" cy="201168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>
            <a:solidFill>
              <a:srgbClr val="E6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17520" y="3913632"/>
            <a:ext cx="4675473" cy="201168"/>
          </a:xfrm>
          <a:prstGeom prst="roundRect">
            <a:avLst>
              <a:gd name="adj" fmla="val 8000"/>
            </a:avLst>
          </a:prstGeom>
          <a:solidFill>
            <a:srgbClr val="279E63"/>
          </a:solidFill>
          <a:ln>
            <a:solidFill>
              <a:srgbClr val="279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867912"/>
            <a:ext cx="9144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200" b="1">
                <a:solidFill>
                  <a:srgbClr val="1C2431"/>
                </a:solidFill>
                <a:latin typeface="Aptos"/>
              </a:rPr>
              <a:t>98.33%</a:t>
            </a:r>
            <a:endParaRPr sz="12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052560" y="2016125"/>
            <a:ext cx="297180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290445"/>
            <a:ext cx="23774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869BE"/>
                </a:solidFill>
                <a:latin typeface="Aptos"/>
              </a:rPr>
              <a:t>关键原因</a:t>
            </a:r>
            <a:endParaRPr sz="1500" b="1">
              <a:solidFill>
                <a:srgbClr val="1869BE"/>
              </a:solidFill>
              <a:latin typeface="Apto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9326880" y="2857373"/>
            <a:ext cx="91440" cy="91440"/>
          </a:xfrm>
          <a:prstGeom prst="ellipse">
            <a:avLst/>
          </a:prstGeom>
          <a:solidFill>
            <a:srgbClr val="EB8530"/>
          </a:solidFill>
          <a:ln>
            <a:solidFill>
              <a:srgbClr val="EB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1472" y="2747645"/>
            <a:ext cx="2167127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1C2431"/>
                </a:solidFill>
                <a:latin typeface="Aptos"/>
              </a:rPr>
              <a:t>MLP 打平像素，空间关系变弱</a:t>
            </a:r>
            <a:endParaRPr sz="1300" b="0">
              <a:solidFill>
                <a:srgbClr val="1C2431"/>
              </a:solidFill>
              <a:latin typeface="Apto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9326880" y="3406013"/>
            <a:ext cx="91440" cy="91440"/>
          </a:xfrm>
          <a:prstGeom prst="ellipse">
            <a:avLst/>
          </a:prstGeom>
          <a:solidFill>
            <a:srgbClr val="279E63"/>
          </a:solidFill>
          <a:ln>
            <a:solidFill>
              <a:srgbClr val="279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91472" y="3296285"/>
            <a:ext cx="2167127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1C2431"/>
                </a:solidFill>
                <a:latin typeface="Aptos"/>
              </a:rPr>
              <a:t>CNN 保留上下左右关系</a:t>
            </a:r>
            <a:endParaRPr sz="1300" b="0">
              <a:solidFill>
                <a:srgbClr val="1C2431"/>
              </a:solidFill>
              <a:latin typeface="Aptos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9326880" y="3954653"/>
            <a:ext cx="91440" cy="91440"/>
          </a:xfrm>
          <a:prstGeom prst="ellipse">
            <a:avLst/>
          </a:prstGeom>
          <a:solidFill>
            <a:srgbClr val="1AA5B0"/>
          </a:solidFill>
          <a:ln>
            <a:solidFill>
              <a:srgbClr val="1AA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2" y="3844924"/>
            <a:ext cx="2167127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1C2431"/>
                </a:solidFill>
                <a:latin typeface="Aptos"/>
              </a:rPr>
              <a:t>裂缝本质上是纹理和连续边缘</a:t>
            </a:r>
            <a:endParaRPr sz="1300" b="0">
              <a:solidFill>
                <a:srgbClr val="1C2431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68680" y="4983480"/>
            <a:ext cx="68580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0">
                <a:solidFill>
                  <a:srgbClr val="5B6778"/>
                </a:solidFill>
                <a:latin typeface="Aptos"/>
              </a:rPr>
              <a:t>准确率越高，代表总体判断越准确。</a:t>
            </a:r>
            <a:endParaRPr sz="16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68680" y="5321808"/>
            <a:ext cx="7132320" cy="502920"/>
          </a:xfrm>
          <a:prstGeom prst="roundRect">
            <a:avLst>
              <a:gd name="adj" fmla="val 8000"/>
            </a:avLst>
          </a:prstGeom>
          <a:solidFill>
            <a:srgbClr val="1E2735"/>
          </a:solidFill>
          <a:ln>
            <a:solidFill>
              <a:srgbClr val="1E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3" y="5440680"/>
            <a:ext cx="6839712" cy="2468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E0E9F3"/>
                </a:solidFill>
                <a:latin typeface="Consolas" panose="020B0609020204030204"/>
              </a:rPr>
              <a:t>MLP: Linear(12288,256) → ReLU → Linear(256,128) → Linear(128,2)</a:t>
            </a:r>
            <a:endParaRPr sz="1000" b="0">
              <a:solidFill>
                <a:srgbClr val="E0E9F3"/>
              </a:solidFill>
              <a:latin typeface="Consolas" panose="020B0609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68680" y="5870448"/>
            <a:ext cx="713232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0">
                <a:solidFill>
                  <a:srgbClr val="5B6778"/>
                </a:solidFill>
                <a:latin typeface="Aptos"/>
              </a:rPr>
              <a:t>MLP：展平像素后做全连接分类</a:t>
            </a:r>
            <a:endParaRPr sz="1000" b="0">
              <a:solidFill>
                <a:srgbClr val="5B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9BE"/>
          </a:solidFill>
          <a:ln>
            <a:solidFill>
              <a:srgbClr val="1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3657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1869BE"/>
                </a:solidFill>
                <a:latin typeface="Aptos"/>
              </a:rPr>
              <a:t>05  模型优化</a:t>
            </a:r>
            <a:endParaRPr sz="1000" b="1">
              <a:solidFill>
                <a:srgbClr val="1869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78992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1C2431"/>
                </a:solidFill>
                <a:latin typeface="Aptos"/>
              </a:rPr>
              <a:t>超参数搜索：不是越复杂越好，而是找到合适的结构</a:t>
            </a:r>
            <a:endParaRPr sz="28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8229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0">
                <a:solidFill>
                  <a:srgbClr val="5B6778"/>
                </a:solidFill>
                <a:latin typeface="Aptos"/>
              </a:rPr>
              <a:t>06 / 08</a:t>
            </a:r>
            <a:endParaRPr sz="10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DAE1EA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10515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0">
                <a:solidFill>
                  <a:srgbClr val="1C2431"/>
                </a:solidFill>
                <a:latin typeface="Aptos"/>
              </a:rPr>
              <a:t>我们逐步改变层数、卷积核数量和大小，观察每次变化带来的结果。</a:t>
            </a:r>
            <a:endParaRPr sz="1800" b="0">
              <a:solidFill>
                <a:srgbClr val="1C2431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8" y="2148840"/>
            <a:ext cx="3383280" cy="2468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C2431"/>
                </a:solidFill>
                <a:latin typeface="Aptos"/>
              </a:rPr>
              <a:t>2 层 / 8-16 / 3×3</a:t>
            </a:r>
            <a:endParaRPr sz="1100" b="0">
              <a:solidFill>
                <a:srgbClr val="1C2431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069080" y="2176272"/>
            <a:ext cx="5303520" cy="219456"/>
          </a:xfrm>
          <a:prstGeom prst="roundRect">
            <a:avLst>
              <a:gd name="adj" fmla="val 8000"/>
            </a:avLst>
          </a:prstGeom>
          <a:solidFill>
            <a:srgbClr val="E5EBF2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69080" y="2176272"/>
            <a:ext cx="4313352" cy="219456"/>
          </a:xfrm>
          <a:prstGeom prst="roundRect">
            <a:avLst>
              <a:gd name="adj" fmla="val 8000"/>
            </a:avLst>
          </a:prstGeom>
          <a:solidFill>
            <a:srgbClr val="1869BE"/>
          </a:solidFill>
          <a:ln>
            <a:solidFill>
              <a:srgbClr val="1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55480" y="2139696"/>
            <a:ext cx="77724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200" b="1">
                <a:solidFill>
                  <a:srgbClr val="1869BE"/>
                </a:solidFill>
                <a:latin typeface="Aptos"/>
              </a:rPr>
              <a:t>81.33%</a:t>
            </a:r>
            <a:endParaRPr sz="1200" b="1">
              <a:solidFill>
                <a:srgbClr val="1869BE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9808" y="2715768"/>
            <a:ext cx="3383280" cy="2468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C2431"/>
                </a:solidFill>
                <a:latin typeface="Aptos"/>
              </a:rPr>
              <a:t>3 层 / 16-32-64 / 3×3</a:t>
            </a:r>
            <a:endParaRPr sz="1100" b="0">
              <a:solidFill>
                <a:srgbClr val="1C2431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69080" y="2743200"/>
            <a:ext cx="5303520" cy="219456"/>
          </a:xfrm>
          <a:prstGeom prst="roundRect">
            <a:avLst>
              <a:gd name="adj" fmla="val 8000"/>
            </a:avLst>
          </a:prstGeom>
          <a:solidFill>
            <a:srgbClr val="E5EBF2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69080" y="2743200"/>
            <a:ext cx="5126912" cy="219456"/>
          </a:xfrm>
          <a:prstGeom prst="roundRect">
            <a:avLst>
              <a:gd name="adj" fmla="val 8000"/>
            </a:avLst>
          </a:prstGeom>
          <a:solidFill>
            <a:srgbClr val="1AA5B0"/>
          </a:solidFill>
          <a:ln>
            <a:solidFill>
              <a:srgbClr val="1AA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706624"/>
            <a:ext cx="77724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200" b="1">
                <a:solidFill>
                  <a:srgbClr val="1AA5B0"/>
                </a:solidFill>
                <a:latin typeface="Aptos"/>
              </a:rPr>
              <a:t>96.67%</a:t>
            </a:r>
            <a:endParaRPr sz="1200" b="1">
              <a:solidFill>
                <a:srgbClr val="1AA5B0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9808" y="3282696"/>
            <a:ext cx="3383280" cy="2468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C2431"/>
                </a:solidFill>
                <a:latin typeface="Aptos"/>
              </a:rPr>
              <a:t>3 层 / 32-64-128 / 3×3</a:t>
            </a:r>
            <a:endParaRPr sz="1100" b="0">
              <a:solidFill>
                <a:srgbClr val="1C2431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069080" y="3310127"/>
            <a:ext cx="5303520" cy="219456"/>
          </a:xfrm>
          <a:prstGeom prst="roundRect">
            <a:avLst>
              <a:gd name="adj" fmla="val 8000"/>
            </a:avLst>
          </a:prstGeom>
          <a:solidFill>
            <a:srgbClr val="E5EBF2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69080" y="3310127"/>
            <a:ext cx="5161916" cy="219456"/>
          </a:xfrm>
          <a:prstGeom prst="roundRect">
            <a:avLst>
              <a:gd name="adj" fmla="val 8000"/>
            </a:avLst>
          </a:prstGeom>
          <a:solidFill>
            <a:srgbClr val="EB8530"/>
          </a:solidFill>
          <a:ln>
            <a:solidFill>
              <a:srgbClr val="EB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3273552"/>
            <a:ext cx="77724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200" b="1">
                <a:solidFill>
                  <a:srgbClr val="EB8530"/>
                </a:solidFill>
                <a:latin typeface="Aptos"/>
              </a:rPr>
              <a:t>97.33%</a:t>
            </a:r>
            <a:endParaRPr sz="1200" b="1">
              <a:solidFill>
                <a:srgbClr val="EB8530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9808" y="3849624"/>
            <a:ext cx="3383280" cy="2468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1C2431"/>
                </a:solidFill>
                <a:latin typeface="Aptos"/>
              </a:rPr>
              <a:t>4 层 / 32-64-128-256 / 3×3</a:t>
            </a:r>
            <a:endParaRPr sz="1100" b="0">
              <a:solidFill>
                <a:srgbClr val="1C2431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069080" y="3877056"/>
            <a:ext cx="5303520" cy="219456"/>
          </a:xfrm>
          <a:prstGeom prst="roundRect">
            <a:avLst>
              <a:gd name="adj" fmla="val 8000"/>
            </a:avLst>
          </a:prstGeom>
          <a:solidFill>
            <a:srgbClr val="E5EBF2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69080" y="3877056"/>
            <a:ext cx="5108880" cy="219456"/>
          </a:xfrm>
          <a:prstGeom prst="roundRect">
            <a:avLst>
              <a:gd name="adj" fmla="val 8000"/>
            </a:avLst>
          </a:prstGeom>
          <a:solidFill>
            <a:srgbClr val="5B6778"/>
          </a:solidFill>
          <a:ln>
            <a:solidFill>
              <a:srgbClr val="5B6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3840480"/>
            <a:ext cx="77724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200" b="1">
                <a:solidFill>
                  <a:srgbClr val="5B6778"/>
                </a:solidFill>
                <a:latin typeface="Aptos"/>
              </a:rPr>
              <a:t>96.33%</a:t>
            </a:r>
            <a:endParaRPr sz="1200" b="1">
              <a:solidFill>
                <a:srgbClr val="5B6778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9808" y="4416552"/>
            <a:ext cx="3383280" cy="2468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1C2431"/>
                </a:solidFill>
                <a:latin typeface="Aptos"/>
              </a:rPr>
              <a:t>3 层 / 32-64-128 / 5×5</a:t>
            </a:r>
            <a:endParaRPr sz="11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069080" y="4443984"/>
            <a:ext cx="5303520" cy="219456"/>
          </a:xfrm>
          <a:prstGeom prst="roundRect">
            <a:avLst>
              <a:gd name="adj" fmla="val 8000"/>
            </a:avLst>
          </a:prstGeom>
          <a:solidFill>
            <a:srgbClr val="E5EBF2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69080" y="4443984"/>
            <a:ext cx="5214951" cy="219456"/>
          </a:xfrm>
          <a:prstGeom prst="roundRect">
            <a:avLst>
              <a:gd name="adj" fmla="val 8000"/>
            </a:avLst>
          </a:prstGeom>
          <a:solidFill>
            <a:srgbClr val="279E63"/>
          </a:solidFill>
          <a:ln>
            <a:solidFill>
              <a:srgbClr val="279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4407408"/>
            <a:ext cx="77724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200" b="1">
                <a:solidFill>
                  <a:srgbClr val="279E63"/>
                </a:solidFill>
                <a:latin typeface="Aptos"/>
              </a:rPr>
              <a:t>98.33%</a:t>
            </a:r>
            <a:endParaRPr sz="1200" b="1">
              <a:solidFill>
                <a:srgbClr val="279E63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49808" y="5166360"/>
            <a:ext cx="10607040" cy="576072"/>
          </a:xfrm>
          <a:prstGeom prst="roundRect">
            <a:avLst>
              <a:gd name="adj" fmla="val 8000"/>
            </a:avLst>
          </a:prstGeom>
          <a:solidFill>
            <a:srgbClr val="E8F7EF"/>
          </a:solidFill>
          <a:ln>
            <a:solidFill>
              <a:srgbClr val="B9E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340096"/>
            <a:ext cx="100584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700" b="1">
                <a:solidFill>
                  <a:srgbClr val="279E63"/>
                </a:solidFill>
                <a:latin typeface="Aptos"/>
              </a:rPr>
              <a:t>最优：3 层 + 32/64/128 个卷积核 + 5×5 卷积核 → 98.33%</a:t>
            </a:r>
            <a:endParaRPr sz="1700" b="1">
              <a:solidFill>
                <a:srgbClr val="279E63"/>
              </a:solidFill>
              <a:latin typeface="Apto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68680" y="580644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1E2735"/>
          </a:solidFill>
          <a:ln>
            <a:solidFill>
              <a:srgbClr val="1E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3" y="5925312"/>
            <a:ext cx="4828031" cy="38404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E0E9F3"/>
                </a:solidFill>
                <a:latin typeface="Consolas" panose="020B0609020204030204"/>
              </a:rPr>
              <a:t>for cfg in search_space:
    model = CNN(channels=cfg, kernel_size=k)
    score = train_and_evaluate(model)</a:t>
            </a:r>
            <a:endParaRPr sz="1000" b="0">
              <a:solidFill>
                <a:srgbClr val="E0E9F3"/>
              </a:solidFill>
              <a:latin typeface="Consolas" panose="020B0609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68680" y="6492240"/>
            <a:ext cx="512064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0">
                <a:solidFill>
                  <a:srgbClr val="5B6778"/>
                </a:solidFill>
                <a:latin typeface="Aptos"/>
              </a:rPr>
              <a:t>超参数搜索：逐个配置训练并比较测试结果</a:t>
            </a:r>
            <a:endParaRPr sz="1000" b="0">
              <a:solidFill>
                <a:srgbClr val="5B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9BE"/>
          </a:solidFill>
          <a:ln>
            <a:solidFill>
              <a:srgbClr val="1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3657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1869BE"/>
                </a:solidFill>
                <a:latin typeface="Aptos"/>
              </a:rPr>
              <a:t>06  结果解读</a:t>
            </a:r>
            <a:endParaRPr sz="1000" b="1">
              <a:solidFill>
                <a:srgbClr val="1869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78992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1C2431"/>
                </a:solidFill>
                <a:latin typeface="Aptos"/>
              </a:rPr>
              <a:t>准确率之外，更要盯住“漏检”</a:t>
            </a:r>
            <a:endParaRPr sz="28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8229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0">
                <a:solidFill>
                  <a:srgbClr val="5B6778"/>
                </a:solidFill>
                <a:latin typeface="Aptos"/>
              </a:rPr>
              <a:t>07 / 08</a:t>
            </a:r>
            <a:endParaRPr sz="10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DAE1EA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3154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28800"/>
            <a:ext cx="73152" cy="2057400"/>
          </a:xfrm>
          <a:prstGeom prst="rect">
            <a:avLst/>
          </a:prstGeom>
          <a:solidFill>
            <a:srgbClr val="1869BE"/>
          </a:solidFill>
          <a:ln>
            <a:solidFill>
              <a:srgbClr val="1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2011680"/>
            <a:ext cx="2788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5B6778"/>
                </a:solidFill>
                <a:latin typeface="Aptos"/>
              </a:rPr>
              <a:t>Accuracy 准确率</a:t>
            </a:r>
            <a:endParaRPr sz="1100" b="1">
              <a:solidFill>
                <a:srgbClr val="5B6778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8407" y="2331720"/>
            <a:ext cx="27889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869BE"/>
                </a:solidFill>
                <a:latin typeface="Aptos"/>
              </a:rPr>
              <a:t>98.33%</a:t>
            </a:r>
            <a:endParaRPr sz="2700" b="1">
              <a:solidFill>
                <a:srgbClr val="1869BE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8407" y="2907791"/>
            <a:ext cx="2788920" cy="8869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5B6778"/>
                </a:solidFill>
                <a:latin typeface="Aptos"/>
              </a:rPr>
              <a:t>300 张测试图中，295 张判断正确</a:t>
            </a:r>
            <a:endParaRPr sz="11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154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828800"/>
            <a:ext cx="73152" cy="2057400"/>
          </a:xfrm>
          <a:prstGeom prst="rect">
            <a:avLst/>
          </a:prstGeom>
          <a:solidFill>
            <a:srgbClr val="1AA5B0"/>
          </a:solidFill>
          <a:ln>
            <a:solidFill>
              <a:srgbClr val="1AA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011680"/>
            <a:ext cx="2788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5B6778"/>
                </a:solidFill>
                <a:latin typeface="Aptos"/>
              </a:rPr>
              <a:t>Recall 召回率</a:t>
            </a:r>
            <a:endParaRPr sz="1100" b="1">
              <a:solidFill>
                <a:srgbClr val="5B6778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54880" y="2331720"/>
            <a:ext cx="27889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1AA5B0"/>
                </a:solidFill>
                <a:latin typeface="Aptos"/>
              </a:rPr>
              <a:t>96.67%</a:t>
            </a:r>
            <a:endParaRPr sz="2700" b="1">
              <a:solidFill>
                <a:srgbClr val="1AA5B0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54880" y="2907791"/>
            <a:ext cx="2788920" cy="8869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5B6778"/>
                </a:solidFill>
                <a:latin typeface="Aptos"/>
              </a:rPr>
              <a:t>150 张真实裂缝中找出 145 张</a:t>
            </a:r>
            <a:endParaRPr sz="11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302752" y="1828800"/>
            <a:ext cx="3154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1828800"/>
            <a:ext cx="73152" cy="2057400"/>
          </a:xfrm>
          <a:prstGeom prst="rect">
            <a:avLst/>
          </a:prstGeom>
          <a:solidFill>
            <a:srgbClr val="CD4848"/>
          </a:solidFill>
          <a:ln>
            <a:solidFill>
              <a:srgbClr val="CD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2011680"/>
            <a:ext cx="2788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>
                <a:solidFill>
                  <a:srgbClr val="5B6778"/>
                </a:solidFill>
                <a:latin typeface="Aptos"/>
              </a:rPr>
              <a:t>漏检</a:t>
            </a:r>
            <a:endParaRPr sz="1100" b="1">
              <a:solidFill>
                <a:srgbClr val="5B6778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31352" y="2331720"/>
            <a:ext cx="27889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CD4848"/>
                </a:solidFill>
                <a:latin typeface="Aptos"/>
              </a:rPr>
              <a:t>5 张</a:t>
            </a:r>
            <a:endParaRPr sz="2700" b="1">
              <a:solidFill>
                <a:srgbClr val="CD4848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31352" y="2907791"/>
            <a:ext cx="2788920" cy="8869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0">
                <a:solidFill>
                  <a:srgbClr val="5B6778"/>
                </a:solidFill>
                <a:latin typeface="Aptos"/>
              </a:rPr>
              <a:t>真实有裂缝，却被判断成无裂缝</a:t>
            </a:r>
            <a:endParaRPr sz="11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4434840"/>
            <a:ext cx="1069848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900" b="1">
                <a:solidFill>
                  <a:srgbClr val="1C2431"/>
                </a:solidFill>
                <a:latin typeface="Aptos"/>
              </a:rPr>
              <a:t>对本项目来说，召回率重要，是因为漏掉裂缝的风险高于多看几张照片。</a:t>
            </a:r>
            <a:endParaRPr sz="19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0120" y="5166360"/>
            <a:ext cx="102412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600" b="0">
                <a:solidFill>
                  <a:srgbClr val="5B6778"/>
                </a:solidFill>
                <a:latin typeface="Aptos"/>
              </a:rPr>
              <a:t>准确率：总体判断对多少？        召回率：真实裂缝找全多少？</a:t>
            </a:r>
            <a:endParaRPr sz="16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160520" y="5532120"/>
            <a:ext cx="3840480" cy="594360"/>
          </a:xfrm>
          <a:prstGeom prst="roundRect">
            <a:avLst>
              <a:gd name="adj" fmla="val 8000"/>
            </a:avLst>
          </a:prstGeom>
          <a:solidFill>
            <a:srgbClr val="1E2735"/>
          </a:solidFill>
          <a:ln>
            <a:solidFill>
              <a:srgbClr val="1E2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5650992"/>
            <a:ext cx="3547872" cy="3383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>
                <a:solidFill>
                  <a:srgbClr val="E0E9F3"/>
                </a:solidFill>
                <a:latin typeface="Consolas" panose="020B0609020204030204"/>
              </a:rPr>
              <a:t>recall = TP / (TP + FN)
accuracy = (TP + TN) / total</a:t>
            </a:r>
            <a:endParaRPr sz="1000" b="0">
              <a:solidFill>
                <a:srgbClr val="E0E9F3"/>
              </a:solidFill>
              <a:latin typeface="Consolas" panose="020B0609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60520" y="6172200"/>
            <a:ext cx="38404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00" b="0">
                <a:solidFill>
                  <a:srgbClr val="5B6778"/>
                </a:solidFill>
                <a:latin typeface="Aptos"/>
              </a:rPr>
              <a:t>指标计算：召回率重点关注漏检 FN</a:t>
            </a:r>
            <a:endParaRPr sz="1000" b="0">
              <a:solidFill>
                <a:srgbClr val="5B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9BE"/>
          </a:solidFill>
          <a:ln>
            <a:solidFill>
              <a:srgbClr val="18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3657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1">
                <a:solidFill>
                  <a:srgbClr val="1869BE"/>
                </a:solidFill>
                <a:latin typeface="Aptos"/>
              </a:rPr>
              <a:t>07  结论与边界</a:t>
            </a:r>
            <a:endParaRPr sz="1000" b="1">
              <a:solidFill>
                <a:srgbClr val="1869BE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78992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800" b="1">
                <a:solidFill>
                  <a:srgbClr val="1C2431"/>
                </a:solidFill>
                <a:latin typeface="Aptos"/>
              </a:rPr>
              <a:t>结论：模型能帮忙筛查，但不能替人做安全决定</a:t>
            </a:r>
            <a:endParaRPr sz="28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8229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0">
                <a:solidFill>
                  <a:srgbClr val="5B6778"/>
                </a:solidFill>
                <a:latin typeface="Aptos"/>
              </a:rPr>
              <a:t>08 / 08</a:t>
            </a:r>
            <a:endParaRPr sz="10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10972800" cy="13716"/>
          </a:xfrm>
          <a:prstGeom prst="rect">
            <a:avLst/>
          </a:prstGeom>
          <a:solidFill>
            <a:srgbClr val="DAE1EA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4983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29968"/>
            <a:ext cx="411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>
                <a:solidFill>
                  <a:srgbClr val="1869BE"/>
                </a:solidFill>
                <a:latin typeface="Aptos"/>
              </a:rPr>
              <a:t>01</a:t>
            </a:r>
            <a:endParaRPr sz="1600" b="1">
              <a:solidFill>
                <a:srgbClr val="1869BE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1993392"/>
            <a:ext cx="3840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>
                <a:solidFill>
                  <a:srgbClr val="1C2431"/>
                </a:solidFill>
                <a:latin typeface="Aptos"/>
              </a:rPr>
              <a:t>CNN 更适合图像</a:t>
            </a:r>
            <a:endParaRPr sz="17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54480" y="2395728"/>
            <a:ext cx="3840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B6778"/>
                </a:solidFill>
                <a:latin typeface="Aptos"/>
              </a:rPr>
              <a:t>保留空间结构，能学习边缘与纹理</a:t>
            </a:r>
            <a:endParaRPr sz="12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09359" y="1828800"/>
            <a:ext cx="4983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2029968"/>
            <a:ext cx="411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>
                <a:solidFill>
                  <a:srgbClr val="279E63"/>
                </a:solidFill>
                <a:latin typeface="Aptos"/>
              </a:rPr>
              <a:t>02</a:t>
            </a:r>
            <a:endParaRPr sz="1600" b="1">
              <a:solidFill>
                <a:srgbClr val="279E6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86599" y="1993392"/>
            <a:ext cx="3840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>
                <a:solidFill>
                  <a:srgbClr val="1C2431"/>
                </a:solidFill>
                <a:latin typeface="Aptos"/>
              </a:rPr>
              <a:t>搜索带来提升</a:t>
            </a:r>
            <a:endParaRPr sz="17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86599" y="2395728"/>
            <a:ext cx="3840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B6778"/>
                </a:solidFill>
                <a:latin typeface="Aptos"/>
              </a:rPr>
              <a:t>81.33% → 98.33%，漏检 43 → 5</a:t>
            </a:r>
            <a:endParaRPr sz="12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7240" y="3337560"/>
            <a:ext cx="4983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38728"/>
            <a:ext cx="411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>
                <a:solidFill>
                  <a:srgbClr val="EB8530"/>
                </a:solidFill>
                <a:latin typeface="Aptos"/>
              </a:rPr>
              <a:t>03</a:t>
            </a:r>
            <a:endParaRPr sz="1600" b="1">
              <a:solidFill>
                <a:srgbClr val="EB853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54480" y="3502152"/>
            <a:ext cx="3840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>
                <a:solidFill>
                  <a:srgbClr val="1C2431"/>
                </a:solidFill>
                <a:latin typeface="Aptos"/>
              </a:rPr>
              <a:t>结果需要谨慎使用</a:t>
            </a:r>
            <a:endParaRPr sz="17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54480" y="3904487"/>
            <a:ext cx="3840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B6778"/>
                </a:solidFill>
                <a:latin typeface="Aptos"/>
              </a:rPr>
              <a:t>单一数据集，现场环境可能不同</a:t>
            </a:r>
            <a:endParaRPr sz="12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09359" y="3337560"/>
            <a:ext cx="4983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3538728"/>
            <a:ext cx="411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>
                <a:solidFill>
                  <a:srgbClr val="CD4848"/>
                </a:solidFill>
                <a:latin typeface="Aptos"/>
              </a:rPr>
              <a:t>04</a:t>
            </a:r>
            <a:endParaRPr sz="1600" b="1">
              <a:solidFill>
                <a:srgbClr val="CD4848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86599" y="3502152"/>
            <a:ext cx="3840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>
                <a:solidFill>
                  <a:srgbClr val="1C2431"/>
                </a:solidFill>
                <a:latin typeface="Aptos"/>
              </a:rPr>
              <a:t>最终由人判断</a:t>
            </a:r>
            <a:endParaRPr sz="1700" b="1">
              <a:solidFill>
                <a:srgbClr val="1C2431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86599" y="3904487"/>
            <a:ext cx="3840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5B6778"/>
                </a:solidFill>
                <a:latin typeface="Aptos"/>
              </a:rPr>
              <a:t>模型只负责安排人工复核优先级</a:t>
            </a:r>
            <a:endParaRPr sz="1200" b="0">
              <a:solidFill>
                <a:srgbClr val="5B6778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371600" y="5074920"/>
            <a:ext cx="9372600" cy="658368"/>
          </a:xfrm>
          <a:prstGeom prst="roundRect">
            <a:avLst>
              <a:gd name="adj" fmla="val 8000"/>
            </a:avLst>
          </a:prstGeom>
          <a:solidFill>
            <a:srgbClr val="1C2431"/>
          </a:solidFill>
          <a:ln>
            <a:solidFill>
              <a:srgbClr val="1C2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5285232"/>
            <a:ext cx="88239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一句话带走：先用 CNN 缩小人工复核范围，再由专业人员做最终判断。</a:t>
            </a:r>
            <a:endParaRPr sz="17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1707</Words>
  <Application>WPS 演示</Application>
  <PresentationFormat>On-screen Show (4:3)</PresentationFormat>
  <Paragraphs>248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Arial</vt:lpstr>
      <vt:lpstr>Aptos</vt:lpstr>
      <vt:lpstr>Segoe UI</vt:lpstr>
      <vt:lpstr>Consolas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吴</cp:lastModifiedBy>
  <cp:revision>3</cp:revision>
  <dcterms:created xsi:type="dcterms:W3CDTF">2013-01-27T09:14:00Z</dcterms:created>
  <dcterms:modified xsi:type="dcterms:W3CDTF">2026-08-19T12:28:26Z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20A4BFE1284E4CFCA8E24655ECD6A1DF_12</vt:lpwstr>
  </property>
  <property fmtid="{D5CDD505-2E9C-101B-9397-08002B2CF9AE}" pid="3" name="KSOProductBuildVer">
    <vt:lpwstr>2052-12.1.0.22215</vt:lpwstr>
  </property>
</Properties>
</file>